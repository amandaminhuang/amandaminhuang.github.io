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ZjQCdtPyPIxfD+l6t4Hr6v1Q8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872720b35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872720b35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872720b35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72720b35_6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872720b35_6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872720b35_6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72720b35_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872720b35_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name and title white">
  <p:cSld name="Cover slide with name and title whit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/>
          <p:nvPr/>
        </p:nvSpPr>
        <p:spPr>
          <a:xfrm>
            <a:off x="0" y="0"/>
            <a:ext cx="404368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8"/>
          <p:cNvSpPr/>
          <p:nvPr>
            <p:ph idx="2" type="pic"/>
          </p:nvPr>
        </p:nvSpPr>
        <p:spPr>
          <a:xfrm>
            <a:off x="0" y="0"/>
            <a:ext cx="40449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4598988" y="1311274"/>
            <a:ext cx="64230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3pPr>
            <a:lvl4pPr indent="-406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4pPr>
            <a:lvl5pPr indent="-406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3" type="body"/>
          </p:nvPr>
        </p:nvSpPr>
        <p:spPr>
          <a:xfrm>
            <a:off x="4598988" y="3521840"/>
            <a:ext cx="5732462" cy="879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1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4" type="body"/>
          </p:nvPr>
        </p:nvSpPr>
        <p:spPr>
          <a:xfrm>
            <a:off x="4598988" y="3162300"/>
            <a:ext cx="55546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8"/>
          <p:cNvSpPr/>
          <p:nvPr>
            <p:ph idx="5" type="pic"/>
          </p:nvPr>
        </p:nvSpPr>
        <p:spPr>
          <a:xfrm>
            <a:off x="4697844" y="5659438"/>
            <a:ext cx="3074987" cy="5937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igure">
  <p:cSld name="Big figur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9"/>
          <p:cNvSpPr txBox="1"/>
          <p:nvPr>
            <p:ph idx="1" type="body"/>
          </p:nvPr>
        </p:nvSpPr>
        <p:spPr>
          <a:xfrm>
            <a:off x="1662340" y="5223671"/>
            <a:ext cx="4261966" cy="580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2" type="body"/>
          </p:nvPr>
        </p:nvSpPr>
        <p:spPr>
          <a:xfrm>
            <a:off x="1662340" y="1031789"/>
            <a:ext cx="7555798" cy="3741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0"/>
              <a:buNone/>
              <a:defRPr sz="30000"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3pPr>
            <a:lvl4pPr indent="-406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4pPr>
            <a:lvl5pPr indent="-406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igure">
  <p:cSld name="1_Big figur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0"/>
          <p:cNvSpPr txBox="1"/>
          <p:nvPr>
            <p:ph idx="1" type="body"/>
          </p:nvPr>
        </p:nvSpPr>
        <p:spPr>
          <a:xfrm>
            <a:off x="1662340" y="5223671"/>
            <a:ext cx="4261966" cy="580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2" type="body"/>
          </p:nvPr>
        </p:nvSpPr>
        <p:spPr>
          <a:xfrm>
            <a:off x="1662340" y="1031789"/>
            <a:ext cx="7555798" cy="3741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0"/>
              <a:buNone/>
              <a:defRPr sz="30000"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3pPr>
            <a:lvl4pPr indent="-406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4pPr>
            <a:lvl5pPr indent="-406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5" name="Google Shape;4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9mMqqD4Mlvb5tbQem6eiIQVOr0qdalp9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3219901" y="3363724"/>
            <a:ext cx="57522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Micah Gold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Amanda Huang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Natalie Miller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Fiona Vitali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Maryanne Xu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Joanne Zhao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 txBox="1"/>
          <p:nvPr>
            <p:ph idx="2" type="body"/>
          </p:nvPr>
        </p:nvSpPr>
        <p:spPr>
          <a:xfrm>
            <a:off x="151" y="1046499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sz="5400">
                <a:latin typeface="Georgia"/>
                <a:ea typeface="Georgia"/>
                <a:cs typeface="Georgia"/>
                <a:sym typeface="Georgia"/>
              </a:rPr>
              <a:t>EZ-Merge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69598" y="6067175"/>
            <a:ext cx="15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TAP @ Yale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970100" y="2104074"/>
            <a:ext cx="825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An AI powered website to log and detect anti-competitive mergers below the Hart-Scott Rodino threshold.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872720b35_6_0"/>
          <p:cNvSpPr txBox="1"/>
          <p:nvPr/>
        </p:nvSpPr>
        <p:spPr>
          <a:xfrm>
            <a:off x="413575" y="413500"/>
            <a:ext cx="10869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Federal Merger Review Misses Harmful Local Consolidation</a:t>
            </a:r>
            <a:endParaRPr sz="2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3" name="Google Shape;113;g3a872720b35_6_0"/>
          <p:cNvCxnSpPr/>
          <p:nvPr/>
        </p:nvCxnSpPr>
        <p:spPr>
          <a:xfrm flipH="1">
            <a:off x="4809775" y="1235030"/>
            <a:ext cx="9900" cy="5261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g3a872720b35_6_0"/>
          <p:cNvSpPr/>
          <p:nvPr/>
        </p:nvSpPr>
        <p:spPr>
          <a:xfrm>
            <a:off x="5100775" y="1228105"/>
            <a:ext cx="6588600" cy="41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Sectors Impacted by Unreviewed Small Mergers</a:t>
            </a:r>
            <a:endParaRPr sz="1500"/>
          </a:p>
        </p:txBody>
      </p:sp>
      <p:sp>
        <p:nvSpPr>
          <p:cNvPr id="115" name="Google Shape;115;g3a872720b35_6_0"/>
          <p:cNvSpPr txBox="1"/>
          <p:nvPr/>
        </p:nvSpPr>
        <p:spPr>
          <a:xfrm>
            <a:off x="5100775" y="1758625"/>
            <a:ext cx="6588600" cy="4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Dialysis Clinics: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Unreviewed serial acquisitions by large chains create concentrated local markets linked to higher prices, lower quality of care, and increased patient mortality.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Pharmacies: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Pharmacy benefit manager consolidation and vertical integration push independent pharmacies out of business, creating pharmacy deserts in rural and low income areas. 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Nursing Homes: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Private equity firms purchase nursing home properties and increase their real estate costs, leading to reduced staffing levels and higher mortality rates.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Child Care: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Private equity-backed consolidation increase costs for families and lowered staffing stability, accessibility, and quality of care.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Funeral Homes:</a:t>
            </a: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Corporate acquisition of independent funeral homes reduce competition in highly localized markets where families often have few nearby alternatives.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Grocery Stores:</a:t>
            </a: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Mergers in concentrated grocery markets are associated with higher consumer prices, reduced product variety, and lower worker wages.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g3a872720b35_6_0"/>
          <p:cNvSpPr/>
          <p:nvPr/>
        </p:nvSpPr>
        <p:spPr>
          <a:xfrm>
            <a:off x="413575" y="1228105"/>
            <a:ext cx="4115100" cy="41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Current Regulatory Gap</a:t>
            </a:r>
            <a:endParaRPr sz="1500"/>
          </a:p>
        </p:txBody>
      </p:sp>
      <p:sp>
        <p:nvSpPr>
          <p:cNvPr id="117" name="Google Shape;117;g3a872720b35_6_0"/>
          <p:cNvSpPr txBox="1"/>
          <p:nvPr/>
        </p:nvSpPr>
        <p:spPr>
          <a:xfrm>
            <a:off x="413575" y="1758625"/>
            <a:ext cx="4086900" cy="29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Federal HSR Threshold ($133.9M)</a:t>
            </a:r>
            <a:r>
              <a:rPr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Only large mergers reviewed federally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Small local acquisitions go unreviewed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Serial acquisitions are particularly problematic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Mini-HSR Acts, “Baby-HSR” Acts:</a:t>
            </a:r>
            <a:endParaRPr b="1"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Onerous for small businesses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Costly to state agencies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Fail to distinguish between harmless transactions and potentially dangerous rollups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g3a872720b35_6_0"/>
          <p:cNvSpPr/>
          <p:nvPr/>
        </p:nvSpPr>
        <p:spPr>
          <a:xfrm>
            <a:off x="484825" y="5181150"/>
            <a:ext cx="3944400" cy="1315500"/>
          </a:xfrm>
          <a:prstGeom prst="rect">
            <a:avLst/>
          </a:prstGeom>
          <a:solidFill>
            <a:srgbClr val="00356B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State AGs need more assistance in </a:t>
            </a: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identifying</a:t>
            </a: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potentially monopolistic mergers even if they fall below the HSR thresholds.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72720b35_6_34"/>
          <p:cNvSpPr/>
          <p:nvPr/>
        </p:nvSpPr>
        <p:spPr>
          <a:xfrm>
            <a:off x="413575" y="1228100"/>
            <a:ext cx="3944400" cy="412800"/>
          </a:xfrm>
          <a:prstGeom prst="rect">
            <a:avLst/>
          </a:prstGeom>
          <a:solidFill>
            <a:srgbClr val="00356B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Step-by-Step Process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25" name="Google Shape;125;g3a872720b35_6_34"/>
          <p:cNvSpPr txBox="1"/>
          <p:nvPr/>
        </p:nvSpPr>
        <p:spPr>
          <a:xfrm>
            <a:off x="413575" y="413495"/>
            <a:ext cx="10869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EZ-Merge</a:t>
            </a:r>
            <a:endParaRPr sz="2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g3a872720b35_6_34"/>
          <p:cNvSpPr/>
          <p:nvPr/>
        </p:nvSpPr>
        <p:spPr>
          <a:xfrm>
            <a:off x="413575" y="1833125"/>
            <a:ext cx="2502600" cy="67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Acquisition involving in-state business activities occurs</a:t>
            </a:r>
            <a:endParaRPr>
              <a:solidFill>
                <a:srgbClr val="00356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g3a872720b35_6_34"/>
          <p:cNvSpPr/>
          <p:nvPr/>
        </p:nvSpPr>
        <p:spPr>
          <a:xfrm>
            <a:off x="413575" y="2839014"/>
            <a:ext cx="2502600" cy="67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Electronic filing through EZ-merge website</a:t>
            </a:r>
            <a:endParaRPr>
              <a:solidFill>
                <a:srgbClr val="00356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g3a872720b35_6_34"/>
          <p:cNvSpPr/>
          <p:nvPr/>
        </p:nvSpPr>
        <p:spPr>
          <a:xfrm>
            <a:off x="413575" y="3844903"/>
            <a:ext cx="2502600" cy="67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15-day waiting period automatically begins</a:t>
            </a:r>
            <a:endParaRPr>
              <a:solidFill>
                <a:srgbClr val="00356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g3a872720b35_6_34"/>
          <p:cNvSpPr txBox="1"/>
          <p:nvPr/>
        </p:nvSpPr>
        <p:spPr>
          <a:xfrm rot="5400000">
            <a:off x="1456525" y="2432382"/>
            <a:ext cx="4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→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0" name="Google Shape;130;g3a872720b35_6_34"/>
          <p:cNvSpPr txBox="1"/>
          <p:nvPr/>
        </p:nvSpPr>
        <p:spPr>
          <a:xfrm rot="5400000">
            <a:off x="1456525" y="3436296"/>
            <a:ext cx="4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→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1" name="Google Shape;131;g3a872720b35_6_34"/>
          <p:cNvSpPr txBox="1"/>
          <p:nvPr/>
        </p:nvSpPr>
        <p:spPr>
          <a:xfrm>
            <a:off x="3064275" y="1784500"/>
            <a:ext cx="129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Small business action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g3a872720b35_6_34"/>
          <p:cNvSpPr txBox="1"/>
          <p:nvPr/>
        </p:nvSpPr>
        <p:spPr>
          <a:xfrm>
            <a:off x="3064275" y="2759375"/>
            <a:ext cx="129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Small business action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g3a872720b35_6_34"/>
          <p:cNvSpPr txBox="1"/>
          <p:nvPr/>
        </p:nvSpPr>
        <p:spPr>
          <a:xfrm>
            <a:off x="3064275" y="3765250"/>
            <a:ext cx="129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AG office action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g3a872720b35_6_34"/>
          <p:cNvSpPr txBox="1"/>
          <p:nvPr/>
        </p:nvSpPr>
        <p:spPr>
          <a:xfrm>
            <a:off x="413625" y="5530300"/>
            <a:ext cx="38904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Yes or No,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Depending on whether the AG determines the </a:t>
            </a:r>
            <a:r>
              <a:rPr i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acquisition</a:t>
            </a:r>
            <a:r>
              <a:rPr i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may substantially decrease competition within the state.  </a:t>
            </a:r>
            <a:endParaRPr i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g3a872720b35_6_34"/>
          <p:cNvSpPr/>
          <p:nvPr/>
        </p:nvSpPr>
        <p:spPr>
          <a:xfrm>
            <a:off x="4556250" y="1228100"/>
            <a:ext cx="3079500" cy="412800"/>
          </a:xfrm>
          <a:prstGeom prst="rect">
            <a:avLst/>
          </a:prstGeom>
          <a:solidFill>
            <a:srgbClr val="00356B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AG chooses an extended review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g3a872720b35_6_34"/>
          <p:cNvSpPr/>
          <p:nvPr/>
        </p:nvSpPr>
        <p:spPr>
          <a:xfrm>
            <a:off x="4596925" y="4231300"/>
            <a:ext cx="3079500" cy="526200"/>
          </a:xfrm>
          <a:prstGeom prst="rect">
            <a:avLst/>
          </a:prstGeom>
          <a:solidFill>
            <a:srgbClr val="00356B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AG does </a:t>
            </a:r>
            <a:r>
              <a:rPr b="1" i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not</a:t>
            </a:r>
            <a:r>
              <a:rPr b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choose an extended review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" name="Google Shape;137;g3a872720b35_6_34"/>
          <p:cNvSpPr/>
          <p:nvPr/>
        </p:nvSpPr>
        <p:spPr>
          <a:xfrm>
            <a:off x="4605700" y="1841700"/>
            <a:ext cx="3038700" cy="67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1. </a:t>
            </a:r>
            <a:r>
              <a:rPr lang="en-US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Extends waiting period by 60 additional days</a:t>
            </a:r>
            <a:endParaRPr>
              <a:solidFill>
                <a:srgbClr val="00356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g3a872720b35_6_34"/>
          <p:cNvSpPr/>
          <p:nvPr/>
        </p:nvSpPr>
        <p:spPr>
          <a:xfrm>
            <a:off x="4617325" y="2600100"/>
            <a:ext cx="3038700" cy="67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lang="en-US" sz="1500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lang="en-US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 Requires supplemental materials </a:t>
            </a:r>
            <a:endParaRPr>
              <a:solidFill>
                <a:srgbClr val="00356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g3a872720b35_6_34"/>
          <p:cNvSpPr txBox="1"/>
          <p:nvPr/>
        </p:nvSpPr>
        <p:spPr>
          <a:xfrm>
            <a:off x="4596925" y="3415700"/>
            <a:ext cx="303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Prohibits consummation without further written authorization.</a:t>
            </a:r>
            <a:endParaRPr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g3a872720b35_6_34"/>
          <p:cNvSpPr txBox="1"/>
          <p:nvPr/>
        </p:nvSpPr>
        <p:spPr>
          <a:xfrm>
            <a:off x="4617325" y="4850750"/>
            <a:ext cx="30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Parties may proceed</a:t>
            </a:r>
            <a:endParaRPr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41" name="Google Shape;141;g3a872720b35_6_34"/>
          <p:cNvCxnSpPr/>
          <p:nvPr/>
        </p:nvCxnSpPr>
        <p:spPr>
          <a:xfrm flipH="1" rot="10800000">
            <a:off x="4675375" y="5344209"/>
            <a:ext cx="2881800" cy="20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g3a872720b35_6_34"/>
          <p:cNvSpPr/>
          <p:nvPr/>
        </p:nvSpPr>
        <p:spPr>
          <a:xfrm>
            <a:off x="4556125" y="5517800"/>
            <a:ext cx="3120300" cy="98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Regardless of action, the Act preserves the AG’s authority to challenge the transaction later for any section of the Act or other law.</a:t>
            </a:r>
            <a:endParaRPr i="1" sz="1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g3a872720b35_6_34"/>
          <p:cNvSpPr/>
          <p:nvPr/>
        </p:nvSpPr>
        <p:spPr>
          <a:xfrm>
            <a:off x="7834025" y="1228100"/>
            <a:ext cx="3944400" cy="412800"/>
          </a:xfrm>
          <a:prstGeom prst="rect">
            <a:avLst/>
          </a:prstGeom>
          <a:solidFill>
            <a:srgbClr val="00356B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Clarifications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44" name="Google Shape;144;g3a872720b35_6_34"/>
          <p:cNvSpPr txBox="1"/>
          <p:nvPr/>
        </p:nvSpPr>
        <p:spPr>
          <a:xfrm>
            <a:off x="7928525" y="1784500"/>
            <a:ext cx="3755400" cy="46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1. Confidentiality: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All submitted materials must be confidential, with permitted disclosure to: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FTC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DOJ Antitrust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Division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State Attorney General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●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Judicial proceedings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2. Exemptions: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The state can also exempt mergers from particular industries or backgrounds if it is less concerned about particular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acquisitions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It can also place higher boundaries to alert the state if a merger from a particular industry is merging, similar to Pennsylvania’s pending Mini-HSR act that prioritizes healthcare 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mergers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g3a872720b35_6_34"/>
          <p:cNvSpPr txBox="1"/>
          <p:nvPr/>
        </p:nvSpPr>
        <p:spPr>
          <a:xfrm rot="5400000">
            <a:off x="1456525" y="4440221"/>
            <a:ext cx="4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→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6" name="Google Shape;146;g3a872720b35_6_34"/>
          <p:cNvSpPr/>
          <p:nvPr/>
        </p:nvSpPr>
        <p:spPr>
          <a:xfrm>
            <a:off x="413625" y="4829175"/>
            <a:ext cx="3890400" cy="67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356B"/>
                </a:solidFill>
                <a:latin typeface="Georgia"/>
                <a:ea typeface="Georgia"/>
                <a:cs typeface="Georgia"/>
                <a:sym typeface="Georgia"/>
              </a:rPr>
              <a:t>Does the AG issue extended review?</a:t>
            </a:r>
            <a:endParaRPr>
              <a:solidFill>
                <a:srgbClr val="00356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872720b35_3_14"/>
          <p:cNvSpPr txBox="1"/>
          <p:nvPr/>
        </p:nvSpPr>
        <p:spPr>
          <a:xfrm>
            <a:off x="10424792" y="6488668"/>
            <a:ext cx="133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TAP@ Yale</a:t>
            </a:r>
            <a:endParaRPr/>
          </a:p>
        </p:txBody>
      </p:sp>
      <p:pic>
        <p:nvPicPr>
          <p:cNvPr id="152" name="Google Shape;152;g3a872720b35_3_14" title="MOV_036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613" y="1216700"/>
            <a:ext cx="8743925" cy="49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a872720b35_3_14"/>
          <p:cNvSpPr txBox="1"/>
          <p:nvPr/>
        </p:nvSpPr>
        <p:spPr>
          <a:xfrm>
            <a:off x="413575" y="413495"/>
            <a:ext cx="10869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EZ-Merge Website Demo</a:t>
            </a:r>
            <a:endParaRPr sz="2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2025-05-18T19:42:19Z</dcterms:created>
  <dc:creator>Singh, Madhavi</dc:creator>
</cp:coreProperties>
</file>