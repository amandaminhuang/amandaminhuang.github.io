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Berkshire Swash"/>
      <p:regular r:id="rId32"/>
    </p:embeddedFont>
    <p:embeddedFont>
      <p:font typeface="Plus Jakarta Sans"/>
      <p:regular r:id="rId33"/>
      <p:bold r:id="rId34"/>
      <p:italic r:id="rId35"/>
      <p:boldItalic r:id="rId36"/>
    </p:embeddedFont>
    <p:embeddedFont>
      <p:font typeface="Inter"/>
      <p:regular r:id="rId37"/>
      <p:bold r:id="rId38"/>
      <p:italic r:id="rId39"/>
      <p:boldItalic r:id="rId40"/>
    </p:embeddedFont>
    <p:embeddedFont>
      <p:font typeface="Plus Jakarta Sans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PlusJakartaSansMedium-bold.fntdata"/><Relationship Id="rId41" Type="http://schemas.openxmlformats.org/officeDocument/2006/relationships/font" Target="fonts/PlusJakartaSansMedium-regular.fntdata"/><Relationship Id="rId22" Type="http://schemas.openxmlformats.org/officeDocument/2006/relationships/slide" Target="slides/slide17.xml"/><Relationship Id="rId44" Type="http://schemas.openxmlformats.org/officeDocument/2006/relationships/font" Target="fonts/PlusJakartaSans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PlusJakartaSans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usJakartaSans-regular.fntdata"/><Relationship Id="rId10" Type="http://schemas.openxmlformats.org/officeDocument/2006/relationships/slide" Target="slides/slide5.xml"/><Relationship Id="rId32" Type="http://schemas.openxmlformats.org/officeDocument/2006/relationships/font" Target="fonts/BerkshireSwash-regular.fntdata"/><Relationship Id="rId13" Type="http://schemas.openxmlformats.org/officeDocument/2006/relationships/slide" Target="slides/slide8.xml"/><Relationship Id="rId35" Type="http://schemas.openxmlformats.org/officeDocument/2006/relationships/font" Target="fonts/PlusJakartaSans-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-bold.fntdata"/><Relationship Id="rId15" Type="http://schemas.openxmlformats.org/officeDocument/2006/relationships/slide" Target="slides/slide10.xml"/><Relationship Id="rId37" Type="http://schemas.openxmlformats.org/officeDocument/2006/relationships/font" Target="fonts/Inter-regular.fntdata"/><Relationship Id="rId14" Type="http://schemas.openxmlformats.org/officeDocument/2006/relationships/slide" Target="slides/slide9.xml"/><Relationship Id="rId36" Type="http://schemas.openxmlformats.org/officeDocument/2006/relationships/font" Target="fonts/PlusJakartaSans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-italic.fntdata"/><Relationship Id="rId16" Type="http://schemas.openxmlformats.org/officeDocument/2006/relationships/slide" Target="slides/slide11.xml"/><Relationship Id="rId38" Type="http://schemas.openxmlformats.org/officeDocument/2006/relationships/font" Target="fonts/Int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ed59949d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9ed59949d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Miya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9ed59949d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9ed59949d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913d9c7c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913d9c7c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Amanda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13d9c7c3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13d9c7c3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Amanda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13d9c7c3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13d9c7c3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13d9c7c3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13d9c7c3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13d9c7c3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13d9c7c3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13d9c7c3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13d9c7c3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13d9c7c3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13d9c7c3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9ed59949d_0_1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9ed59949d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Gbemiga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cd7d488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cd7d488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Gbemiga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9ed59949d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9ed59949d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Miya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c7d471909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c7d471909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Miya - angus tiernan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c7d47190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c7d47190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913d9c7c3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913d9c7c3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9ed59949d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9ed59949d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c7d47190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ac7d47190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c7d47190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c7d47190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c7d47190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c7d47190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c7d471909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ac7d471909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9ed59949d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9ed59949d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Gbemiga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9ed59949d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9ed59949d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c7d47190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c7d47190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c7d47190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ac7d47190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Amanda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9ed59949d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a9ed59949d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Gbemiga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acd7d488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acd7d488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56" name="Google Shape;56;p13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59" name="Google Shape;59;p13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69" name="Google Shape;69;p15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0" name="Google Shape;70;p15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1" name="Google Shape;71;p15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74" name="Google Shape;74;p15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9" name="Google Shape;79;p15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0" name="Google Shape;80;p15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86" name="Google Shape;86;p16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4" name="Google Shape;94;p17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7" name="Google Shape;97;p17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98" name="Google Shape;98;p17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0" name="Google Shape;100;p17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1" name="Google Shape;101;p17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3" name="Google Shape;103;p17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4" name="Google Shape;104;p17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6" name="Google Shape;106;p17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7" name="Google Shape;107;p17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9" name="Google Shape;109;p17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0" name="Google Shape;110;p17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2" name="Google Shape;112;p17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3" name="Google Shape;113;p17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5" name="Google Shape;115;p17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18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8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8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8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8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8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8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8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1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7" name="Google Shape;137;p21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24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27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27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8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8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81" name="Google Shape;181;p29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82" name="Google Shape;182;p29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83" name="Google Shape;183;p29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6" name="Google Shape;186;p30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87" name="Google Shape;187;p30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8" name="Google Shape;188;p30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89" name="Google Shape;189;p30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0" name="Google Shape;190;p30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1" name="Google Shape;191;p30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2" name="Google Shape;192;p30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_1_1_1_1_1_1_1_1_4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6" name="Google Shape;196;p32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7" name="Google Shape;197;p32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2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99" name="Google Shape;199;p32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0" name="Google Shape;200;p32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32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2" name="Google Shape;202;p32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3" name="Google Shape;203;p32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6" name="Google Shape;206;p32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32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12" name="Google Shape;212;p33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13" name="Google Shape;213;p33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14" name="Google Shape;214;p33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15" name="Google Shape;215;p33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16" name="Google Shape;216;p33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_3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9" name="Google Shape;219;p34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0" name="Google Shape;230;p35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1" name="Google Shape;231;p35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32" name="Google Shape;232;p35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33" name="Google Shape;233;p35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34" name="Google Shape;234;p35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36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36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240" name="Google Shape;240;p36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241" name="Google Shape;241;p36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/>
          <p:nvPr/>
        </p:nvSpPr>
        <p:spPr>
          <a:xfrm>
            <a:off x="-18050" y="-6025"/>
            <a:ext cx="9162000" cy="575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910998" y="5187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26276" y="51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2875" y="1041732"/>
            <a:ext cx="4550549" cy="25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/>
          <p:nvPr/>
        </p:nvSpPr>
        <p:spPr>
          <a:xfrm>
            <a:off x="-9000" y="4688329"/>
            <a:ext cx="9162000" cy="46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51" name="Google Shape;251;p37"/>
          <p:cNvSpPr txBox="1"/>
          <p:nvPr>
            <p:ph type="title"/>
          </p:nvPr>
        </p:nvSpPr>
        <p:spPr>
          <a:xfrm>
            <a:off x="90975" y="471908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2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Presented By: Amanda Huang, Gbemiga Salu, &amp; Miya Zhao</a:t>
            </a:r>
            <a:endParaRPr sz="102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7"/>
          <p:cNvSpPr txBox="1"/>
          <p:nvPr>
            <p:ph type="title"/>
          </p:nvPr>
        </p:nvSpPr>
        <p:spPr>
          <a:xfrm>
            <a:off x="8296050" y="4719075"/>
            <a:ext cx="78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2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02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7"/>
          <p:cNvSpPr/>
          <p:nvPr/>
        </p:nvSpPr>
        <p:spPr>
          <a:xfrm>
            <a:off x="1814000" y="3464400"/>
            <a:ext cx="5748300" cy="650400"/>
          </a:xfrm>
          <a:prstGeom prst="roundRect">
            <a:avLst>
              <a:gd fmla="val 0" name="adj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4" name="Google Shape;254;p37"/>
          <p:cNvSpPr/>
          <p:nvPr/>
        </p:nvSpPr>
        <p:spPr>
          <a:xfrm>
            <a:off x="1814000" y="3464400"/>
            <a:ext cx="638700" cy="650400"/>
          </a:xfrm>
          <a:prstGeom prst="roundRect">
            <a:avLst>
              <a:gd fmla="val 0" name="adj"/>
            </a:avLst>
          </a:prstGeom>
          <a:solidFill>
            <a:srgbClr val="92C4F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latin typeface="Berkshire Swash"/>
                <a:ea typeface="Berkshire Swash"/>
                <a:cs typeface="Berkshire Swash"/>
                <a:sym typeface="Berkshire Swash"/>
              </a:rPr>
              <a:t>d</a:t>
            </a:r>
            <a:endParaRPr b="1" i="1" sz="44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5" name="Google Shape;255;p37"/>
          <p:cNvSpPr/>
          <p:nvPr/>
        </p:nvSpPr>
        <p:spPr>
          <a:xfrm>
            <a:off x="24527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6" name="Google Shape;256;p37"/>
          <p:cNvSpPr/>
          <p:nvPr/>
        </p:nvSpPr>
        <p:spPr>
          <a:xfrm>
            <a:off x="30914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7" name="Google Shape;257;p37"/>
          <p:cNvSpPr/>
          <p:nvPr/>
        </p:nvSpPr>
        <p:spPr>
          <a:xfrm>
            <a:off x="37301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r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8" name="Google Shape;258;p37"/>
          <p:cNvSpPr/>
          <p:nvPr/>
        </p:nvSpPr>
        <p:spPr>
          <a:xfrm>
            <a:off x="43688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y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59" name="Google Shape;259;p37"/>
          <p:cNvSpPr/>
          <p:nvPr/>
        </p:nvSpPr>
        <p:spPr>
          <a:xfrm>
            <a:off x="50075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p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60" name="Google Shape;260;p37"/>
          <p:cNvSpPr/>
          <p:nvPr/>
        </p:nvSpPr>
        <p:spPr>
          <a:xfrm>
            <a:off x="56462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61" name="Google Shape;261;p37"/>
          <p:cNvSpPr/>
          <p:nvPr/>
        </p:nvSpPr>
        <p:spPr>
          <a:xfrm>
            <a:off x="62849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  <p:sp>
        <p:nvSpPr>
          <p:cNvPr id="262" name="Google Shape;262;p37"/>
          <p:cNvSpPr/>
          <p:nvPr/>
        </p:nvSpPr>
        <p:spPr>
          <a:xfrm>
            <a:off x="6923600" y="3464400"/>
            <a:ext cx="638700" cy="6504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r</a:t>
            </a:r>
            <a:endParaRPr b="1" i="1" sz="3900"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3">
            <a:alphaModFix/>
          </a:blip>
          <a:srcRect b="8701" l="0" r="0" t="0"/>
          <a:stretch/>
        </p:blipFill>
        <p:spPr>
          <a:xfrm>
            <a:off x="302650" y="966625"/>
            <a:ext cx="4708474" cy="27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8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8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An 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4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8"/>
          <p:cNvPicPr preferRelativeResize="0"/>
          <p:nvPr/>
        </p:nvPicPr>
        <p:blipFill rotWithShape="1">
          <a:blip r:embed="rId4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657023"/>
            <a:ext cx="4105524" cy="19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9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An 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1" type="body"/>
          </p:nvPr>
        </p:nvSpPr>
        <p:spPr>
          <a:xfrm>
            <a:off x="311700" y="1152475"/>
            <a:ext cx="810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Minute Cryptic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Crossword game that incorporates letterplay and wordplay to create a linguistic puzzle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Components of a puzzle: Fodder, Indicator, and Definition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Various types of puzzles (and combinations of puzzles!)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Anagrams: Take some letters and scramble them to make a new word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Selectors: Picking specific letters from each word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Hiddens: Word is hidden amongst the clue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several more! Substitutions, Reversals, Homophones, etc!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9"/>
          <p:cNvPicPr preferRelativeResize="0"/>
          <p:nvPr/>
        </p:nvPicPr>
        <p:blipFill rotWithShape="1">
          <a:blip r:embed="rId4">
            <a:alphaModFix/>
          </a:blip>
          <a:srcRect b="8805" l="4700" r="10150" t="7737"/>
          <a:stretch/>
        </p:blipFill>
        <p:spPr>
          <a:xfrm>
            <a:off x="5141875" y="3616275"/>
            <a:ext cx="2978599" cy="11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0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40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0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1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1"/>
          <p:cNvPicPr preferRelativeResize="0"/>
          <p:nvPr/>
        </p:nvPicPr>
        <p:blipFill rotWithShape="1">
          <a:blip r:embed="rId5">
            <a:alphaModFix/>
          </a:blip>
          <a:srcRect b="0" l="1219" r="1268" t="0"/>
          <a:stretch/>
        </p:blipFill>
        <p:spPr>
          <a:xfrm>
            <a:off x="418775" y="2637925"/>
            <a:ext cx="2373174" cy="1330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41"/>
          <p:cNvCxnSpPr/>
          <p:nvPr/>
        </p:nvCxnSpPr>
        <p:spPr>
          <a:xfrm>
            <a:off x="2461975" y="2090650"/>
            <a:ext cx="710400" cy="8100"/>
          </a:xfrm>
          <a:prstGeom prst="straightConnector1">
            <a:avLst/>
          </a:prstGeom>
          <a:noFill/>
          <a:ln cap="flat" cmpd="sng" w="38100">
            <a:solidFill>
              <a:srgbClr val="FCDF4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2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42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2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42"/>
          <p:cNvCxnSpPr/>
          <p:nvPr/>
        </p:nvCxnSpPr>
        <p:spPr>
          <a:xfrm>
            <a:off x="2461975" y="2090650"/>
            <a:ext cx="710400" cy="8100"/>
          </a:xfrm>
          <a:prstGeom prst="straightConnector1">
            <a:avLst/>
          </a:prstGeom>
          <a:noFill/>
          <a:ln cap="flat" cmpd="sng" w="38100">
            <a:solidFill>
              <a:srgbClr val="FCDF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4" name="Google Shape;31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2400" y="2571750"/>
            <a:ext cx="2697326" cy="150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42"/>
          <p:cNvCxnSpPr/>
          <p:nvPr/>
        </p:nvCxnSpPr>
        <p:spPr>
          <a:xfrm flipH="1" rot="10800000">
            <a:off x="3220750" y="2090625"/>
            <a:ext cx="1420800" cy="8100"/>
          </a:xfrm>
          <a:prstGeom prst="straightConnector1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3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43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3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43"/>
          <p:cNvCxnSpPr/>
          <p:nvPr/>
        </p:nvCxnSpPr>
        <p:spPr>
          <a:xfrm>
            <a:off x="2461975" y="2090650"/>
            <a:ext cx="710400" cy="8100"/>
          </a:xfrm>
          <a:prstGeom prst="straightConnector1">
            <a:avLst/>
          </a:prstGeom>
          <a:noFill/>
          <a:ln cap="flat" cmpd="sng" w="38100">
            <a:solidFill>
              <a:srgbClr val="FCDF4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6" name="Google Shape;32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2400" y="2571750"/>
            <a:ext cx="2697326" cy="150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43"/>
          <p:cNvCxnSpPr/>
          <p:nvPr/>
        </p:nvCxnSpPr>
        <p:spPr>
          <a:xfrm flipH="1" rot="10800000">
            <a:off x="3220750" y="2090625"/>
            <a:ext cx="1420800" cy="8100"/>
          </a:xfrm>
          <a:prstGeom prst="straightConnector1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4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44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4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44"/>
          <p:cNvCxnSpPr/>
          <p:nvPr/>
        </p:nvCxnSpPr>
        <p:spPr>
          <a:xfrm>
            <a:off x="2461975" y="2090650"/>
            <a:ext cx="710400" cy="8100"/>
          </a:xfrm>
          <a:prstGeom prst="straightConnector1">
            <a:avLst/>
          </a:prstGeom>
          <a:noFill/>
          <a:ln cap="flat" cmpd="sng" w="38100">
            <a:solidFill>
              <a:srgbClr val="FCDF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44"/>
          <p:cNvCxnSpPr/>
          <p:nvPr/>
        </p:nvCxnSpPr>
        <p:spPr>
          <a:xfrm flipH="1" rot="10800000">
            <a:off x="3220750" y="2090625"/>
            <a:ext cx="1420800" cy="8100"/>
          </a:xfrm>
          <a:prstGeom prst="straightConnector1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9" name="Google Shape;339;p44"/>
          <p:cNvPicPr preferRelativeResize="0"/>
          <p:nvPr/>
        </p:nvPicPr>
        <p:blipFill rotWithShape="1">
          <a:blip r:embed="rId5">
            <a:alphaModFix/>
          </a:blip>
          <a:srcRect b="2095" l="493" r="946" t="0"/>
          <a:stretch/>
        </p:blipFill>
        <p:spPr>
          <a:xfrm>
            <a:off x="5682700" y="2624050"/>
            <a:ext cx="2615349" cy="103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44"/>
          <p:cNvCxnSpPr/>
          <p:nvPr/>
        </p:nvCxnSpPr>
        <p:spPr>
          <a:xfrm>
            <a:off x="5085375" y="2090650"/>
            <a:ext cx="1251300" cy="0"/>
          </a:xfrm>
          <a:prstGeom prst="straightConnector1">
            <a:avLst/>
          </a:prstGeom>
          <a:noFill/>
          <a:ln cap="flat" cmpd="sng" w="38100">
            <a:solidFill>
              <a:srgbClr val="92C4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DD3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5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6088" y="1219600"/>
            <a:ext cx="5033726" cy="331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45"/>
          <p:cNvCxnSpPr/>
          <p:nvPr/>
        </p:nvCxnSpPr>
        <p:spPr>
          <a:xfrm>
            <a:off x="2461975" y="2090650"/>
            <a:ext cx="710400" cy="8100"/>
          </a:xfrm>
          <a:prstGeom prst="straightConnector1">
            <a:avLst/>
          </a:prstGeom>
          <a:noFill/>
          <a:ln cap="flat" cmpd="sng" w="38100">
            <a:solidFill>
              <a:srgbClr val="FCDF4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45"/>
          <p:cNvCxnSpPr/>
          <p:nvPr/>
        </p:nvCxnSpPr>
        <p:spPr>
          <a:xfrm flipH="1" rot="10800000">
            <a:off x="3220750" y="2090625"/>
            <a:ext cx="1420800" cy="8100"/>
          </a:xfrm>
          <a:prstGeom prst="straightConnector1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45"/>
          <p:cNvCxnSpPr/>
          <p:nvPr/>
        </p:nvCxnSpPr>
        <p:spPr>
          <a:xfrm>
            <a:off x="5085375" y="2090650"/>
            <a:ext cx="1251300" cy="0"/>
          </a:xfrm>
          <a:prstGeom prst="straightConnector1">
            <a:avLst/>
          </a:prstGeom>
          <a:noFill/>
          <a:ln cap="flat" cmpd="sng" w="38100">
            <a:solidFill>
              <a:srgbClr val="92C4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3" name="Google Shape;353;p45"/>
          <p:cNvPicPr preferRelativeResize="0"/>
          <p:nvPr/>
        </p:nvPicPr>
        <p:blipFill rotWithShape="1">
          <a:blip r:embed="rId5">
            <a:alphaModFix/>
          </a:blip>
          <a:srcRect b="0" l="4698" r="0" t="0"/>
          <a:stretch/>
        </p:blipFill>
        <p:spPr>
          <a:xfrm>
            <a:off x="2125871" y="1219600"/>
            <a:ext cx="4892274" cy="34221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45"/>
          <p:cNvCxnSpPr/>
          <p:nvPr/>
        </p:nvCxnSpPr>
        <p:spPr>
          <a:xfrm>
            <a:off x="3527475" y="2082575"/>
            <a:ext cx="629700" cy="0"/>
          </a:xfrm>
          <a:prstGeom prst="straightConnector1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2FD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6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311700" y="1152475"/>
            <a:ext cx="5179800" cy="32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program to solve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minute cryptic clue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by classifying the puzzle type given the indicator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Then, producing potential answers via wordplay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Eventually, using definitions, producing a most likely answer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46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6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 title="Screenshot 2025-12-02 at 3.27.4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775" y="1674200"/>
            <a:ext cx="2800800" cy="2677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F46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7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Gather Minute Cryptic Data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 a training set of ~30 acceptable puzzles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 a test set of ~10 acceptable puzzles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Classifier: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 what type of puzzle we are attempting to solve using multinomial logistic regression (Sci-kit)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features like Cosine Similarity, Length of Clues, and so 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Solver: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type of puzzle, we designed an algorithm to systematically solve for the correct solution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N-grams, Word2Vec, Dictionaries…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probabilities to potential answers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cosine similarity between vectors for each candidate and the definition (average vector in the case of multi-word definitions)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47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8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Gathering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8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8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63" y="1115927"/>
            <a:ext cx="7998776" cy="3351050"/>
          </a:xfrm>
          <a:prstGeom prst="rect">
            <a:avLst/>
          </a:prstGeom>
          <a:noFill/>
          <a:ln cap="flat" cmpd="sng" w="28575">
            <a:solidFill>
              <a:srgbClr val="FCDF4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9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Gathering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49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9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63" y="1115927"/>
            <a:ext cx="7998776" cy="3351050"/>
          </a:xfrm>
          <a:prstGeom prst="rect">
            <a:avLst/>
          </a:prstGeom>
          <a:noFill/>
          <a:ln cap="flat" cmpd="sng" w="28575">
            <a:solidFill>
              <a:srgbClr val="FCDF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2" name="Google Shape;39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675" y="1824650"/>
            <a:ext cx="3948874" cy="2511474"/>
          </a:xfrm>
          <a:prstGeom prst="rect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0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0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Gathering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50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0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63" y="1115927"/>
            <a:ext cx="7998776" cy="3351050"/>
          </a:xfrm>
          <a:prstGeom prst="rect">
            <a:avLst/>
          </a:prstGeom>
          <a:noFill/>
          <a:ln cap="flat" cmpd="sng" w="28575">
            <a:solidFill>
              <a:srgbClr val="FCDF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2" name="Google Shape;402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675" y="1824650"/>
            <a:ext cx="3948874" cy="2511474"/>
          </a:xfrm>
          <a:prstGeom prst="rect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3" name="Google Shape;403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273" y="1306300"/>
            <a:ext cx="7998774" cy="287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1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Gathering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51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1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63" y="1115927"/>
            <a:ext cx="7998776" cy="3351050"/>
          </a:xfrm>
          <a:prstGeom prst="rect">
            <a:avLst/>
          </a:prstGeom>
          <a:noFill/>
          <a:ln cap="flat" cmpd="sng" w="28575">
            <a:solidFill>
              <a:srgbClr val="FCDF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3" name="Google Shape;41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675" y="1824650"/>
            <a:ext cx="3948874" cy="2511474"/>
          </a:xfrm>
          <a:prstGeom prst="rect">
            <a:avLst/>
          </a:prstGeom>
          <a:noFill/>
          <a:ln cap="flat" cmpd="sng" w="38100">
            <a:solidFill>
              <a:srgbClr val="F0B2F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4" name="Google Shape;41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273" y="1306300"/>
            <a:ext cx="7998774" cy="287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0475" y="1587475"/>
            <a:ext cx="2748650" cy="27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2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Indicator Cracker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52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2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2"/>
          <p:cNvPicPr preferRelativeResize="0"/>
          <p:nvPr/>
        </p:nvPicPr>
        <p:blipFill rotWithShape="1">
          <a:blip r:embed="rId4">
            <a:alphaModFix/>
          </a:blip>
          <a:srcRect b="26591" l="3769" r="4739" t="6497"/>
          <a:stretch/>
        </p:blipFill>
        <p:spPr>
          <a:xfrm>
            <a:off x="2103750" y="1352650"/>
            <a:ext cx="4936500" cy="3241200"/>
          </a:xfrm>
          <a:prstGeom prst="roundRect">
            <a:avLst>
              <a:gd fmla="val 75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3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Indicator Cracker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53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3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039" y="1181150"/>
            <a:ext cx="5293825" cy="3361000"/>
          </a:xfrm>
          <a:prstGeom prst="rect">
            <a:avLst/>
          </a:prstGeom>
          <a:noFill/>
          <a:ln cap="flat" cmpd="sng" w="19050">
            <a:solidFill>
              <a:srgbClr val="ADD3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4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Indicator Cracker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54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4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4"/>
          <p:cNvSpPr txBox="1"/>
          <p:nvPr/>
        </p:nvSpPr>
        <p:spPr>
          <a:xfrm>
            <a:off x="620950" y="1100025"/>
            <a:ext cx="81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pretty good results…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100" y="1912750"/>
            <a:ext cx="47815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1300" y="2013400"/>
            <a:ext cx="2088350" cy="2039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5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5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Indicator Cracker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55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5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5"/>
          <p:cNvSpPr txBox="1"/>
          <p:nvPr/>
        </p:nvSpPr>
        <p:spPr>
          <a:xfrm>
            <a:off x="620950" y="1111364"/>
            <a:ext cx="81369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tried adding other features…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L2 complexity penalties stopped us in our tracks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150" y="2258800"/>
            <a:ext cx="3868049" cy="16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100" y="2258800"/>
            <a:ext cx="3966650" cy="1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F46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6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6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Algorithmic Solving!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56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6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6"/>
          <p:cNvPicPr preferRelativeResize="0"/>
          <p:nvPr/>
        </p:nvPicPr>
        <p:blipFill rotWithShape="1">
          <a:blip r:embed="rId4">
            <a:alphaModFix/>
          </a:blip>
          <a:srcRect b="60107" l="0" r="0" t="0"/>
          <a:stretch/>
        </p:blipFill>
        <p:spPr>
          <a:xfrm>
            <a:off x="1184291" y="1884600"/>
            <a:ext cx="6775425" cy="19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F46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7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7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Anagrams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57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7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7"/>
          <p:cNvSpPr/>
          <p:nvPr/>
        </p:nvSpPr>
        <p:spPr>
          <a:xfrm>
            <a:off x="217575" y="963200"/>
            <a:ext cx="22977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Find all the anagrams of the fodder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2796175" y="963200"/>
            <a:ext cx="23451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2: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Filter the anagrams for “real” words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57"/>
          <p:cNvSpPr/>
          <p:nvPr/>
        </p:nvSpPr>
        <p:spPr>
          <a:xfrm>
            <a:off x="5681325" y="963200"/>
            <a:ext cx="22977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find the “+1 variants” for each original anagram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57"/>
          <p:cNvSpPr/>
          <p:nvPr/>
        </p:nvSpPr>
        <p:spPr>
          <a:xfrm>
            <a:off x="6916750" y="1949375"/>
            <a:ext cx="19065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4: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filter the variants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7"/>
          <p:cNvSpPr/>
          <p:nvPr/>
        </p:nvSpPr>
        <p:spPr>
          <a:xfrm>
            <a:off x="4307125" y="1983275"/>
            <a:ext cx="2208300" cy="7740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5: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combine the filtered lists and remove the original fodder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57"/>
          <p:cNvCxnSpPr>
            <a:stCxn id="473" idx="3"/>
            <a:endCxn id="474" idx="1"/>
          </p:cNvCxnSpPr>
          <p:nvPr/>
        </p:nvCxnSpPr>
        <p:spPr>
          <a:xfrm>
            <a:off x="2515275" y="1308350"/>
            <a:ext cx="28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57"/>
          <p:cNvCxnSpPr>
            <a:stCxn id="474" idx="3"/>
            <a:endCxn id="475" idx="1"/>
          </p:cNvCxnSpPr>
          <p:nvPr/>
        </p:nvCxnSpPr>
        <p:spPr>
          <a:xfrm>
            <a:off x="5141275" y="1308350"/>
            <a:ext cx="54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57"/>
          <p:cNvCxnSpPr>
            <a:stCxn id="475" idx="3"/>
            <a:endCxn id="476" idx="0"/>
          </p:cNvCxnSpPr>
          <p:nvPr/>
        </p:nvCxnSpPr>
        <p:spPr>
          <a:xfrm flipH="1">
            <a:off x="7870125" y="1308350"/>
            <a:ext cx="108900" cy="641100"/>
          </a:xfrm>
          <a:prstGeom prst="curvedConnector4">
            <a:avLst>
              <a:gd fmla="val -218664" name="adj1"/>
              <a:gd fmla="val 7691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57"/>
          <p:cNvSpPr/>
          <p:nvPr/>
        </p:nvSpPr>
        <p:spPr>
          <a:xfrm rot="-9801138">
            <a:off x="7838026" y="1908875"/>
            <a:ext cx="63877" cy="74222"/>
          </a:xfrm>
          <a:prstGeom prst="triangle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" name="Google Shape;482;p57"/>
          <p:cNvCxnSpPr>
            <a:stCxn id="476" idx="1"/>
            <a:endCxn id="477" idx="3"/>
          </p:cNvCxnSpPr>
          <p:nvPr/>
        </p:nvCxnSpPr>
        <p:spPr>
          <a:xfrm flipH="1">
            <a:off x="6515350" y="2294525"/>
            <a:ext cx="401400" cy="7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p57"/>
          <p:cNvSpPr/>
          <p:nvPr/>
        </p:nvSpPr>
        <p:spPr>
          <a:xfrm>
            <a:off x="614750" y="3634850"/>
            <a:ext cx="5223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tea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7"/>
          <p:cNvSpPr/>
          <p:nvPr/>
        </p:nvSpPr>
        <p:spPr>
          <a:xfrm>
            <a:off x="1444050" y="3195950"/>
            <a:ext cx="820500" cy="145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at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7"/>
          <p:cNvSpPr/>
          <p:nvPr/>
        </p:nvSpPr>
        <p:spPr>
          <a:xfrm>
            <a:off x="2827375" y="3322850"/>
            <a:ext cx="591600" cy="119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eat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eta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7"/>
          <p:cNvSpPr/>
          <p:nvPr/>
        </p:nvSpPr>
        <p:spPr>
          <a:xfrm>
            <a:off x="4047038" y="2935550"/>
            <a:ext cx="820500" cy="197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etx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ety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etz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57"/>
          <p:cNvSpPr/>
          <p:nvPr/>
        </p:nvSpPr>
        <p:spPr>
          <a:xfrm>
            <a:off x="5624900" y="2935550"/>
            <a:ext cx="820500" cy="197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ctea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aetx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aety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aetz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7"/>
          <p:cNvSpPr/>
          <p:nvPr/>
        </p:nvSpPr>
        <p:spPr>
          <a:xfrm>
            <a:off x="7470650" y="2935550"/>
            <a:ext cx="820500" cy="197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57"/>
          <p:cNvCxnSpPr>
            <a:stCxn id="483" idx="3"/>
            <a:endCxn id="484" idx="1"/>
          </p:cNvCxnSpPr>
          <p:nvPr/>
        </p:nvCxnSpPr>
        <p:spPr>
          <a:xfrm>
            <a:off x="1137050" y="3921200"/>
            <a:ext cx="30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57"/>
          <p:cNvCxnSpPr>
            <a:stCxn id="484" idx="3"/>
            <a:endCxn id="485" idx="1"/>
          </p:cNvCxnSpPr>
          <p:nvPr/>
        </p:nvCxnSpPr>
        <p:spPr>
          <a:xfrm>
            <a:off x="2264550" y="3921200"/>
            <a:ext cx="56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57"/>
          <p:cNvCxnSpPr>
            <a:stCxn id="485" idx="3"/>
            <a:endCxn id="486" idx="1"/>
          </p:cNvCxnSpPr>
          <p:nvPr/>
        </p:nvCxnSpPr>
        <p:spPr>
          <a:xfrm>
            <a:off x="3418975" y="3921200"/>
            <a:ext cx="62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57"/>
          <p:cNvCxnSpPr>
            <a:stCxn id="486" idx="3"/>
            <a:endCxn id="487" idx="1"/>
          </p:cNvCxnSpPr>
          <p:nvPr/>
        </p:nvCxnSpPr>
        <p:spPr>
          <a:xfrm>
            <a:off x="4867538" y="3921200"/>
            <a:ext cx="75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57"/>
          <p:cNvCxnSpPr>
            <a:stCxn id="487" idx="3"/>
            <a:endCxn id="488" idx="1"/>
          </p:cNvCxnSpPr>
          <p:nvPr/>
        </p:nvCxnSpPr>
        <p:spPr>
          <a:xfrm>
            <a:off x="6445400" y="3921200"/>
            <a:ext cx="102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4" name="Google Shape;49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51" y="1848713"/>
            <a:ext cx="1196700" cy="119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651" y="1826363"/>
            <a:ext cx="1196700" cy="119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96" name="Google Shape;49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076" y="1826363"/>
            <a:ext cx="1196700" cy="119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2FD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8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Selectors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58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8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8"/>
          <p:cNvSpPr/>
          <p:nvPr/>
        </p:nvSpPr>
        <p:spPr>
          <a:xfrm>
            <a:off x="217575" y="963200"/>
            <a:ext cx="2397900" cy="7740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Find all the d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ifferent types of “indicators” for selectors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58"/>
          <p:cNvSpPr/>
          <p:nvPr/>
        </p:nvSpPr>
        <p:spPr>
          <a:xfrm>
            <a:off x="2975850" y="963200"/>
            <a:ext cx="2577600" cy="7740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Create a list of all possible words based on all the clues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58"/>
          <p:cNvSpPr/>
          <p:nvPr/>
        </p:nvSpPr>
        <p:spPr>
          <a:xfrm>
            <a:off x="5946125" y="1005050"/>
            <a:ext cx="22977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Filter the list through the 100k most common words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58"/>
          <p:cNvCxnSpPr>
            <a:stCxn id="505" idx="3"/>
            <a:endCxn id="506" idx="1"/>
          </p:cNvCxnSpPr>
          <p:nvPr/>
        </p:nvCxnSpPr>
        <p:spPr>
          <a:xfrm>
            <a:off x="2615475" y="1350200"/>
            <a:ext cx="36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58"/>
          <p:cNvCxnSpPr>
            <a:stCxn id="506" idx="3"/>
            <a:endCxn id="507" idx="1"/>
          </p:cNvCxnSpPr>
          <p:nvPr/>
        </p:nvCxnSpPr>
        <p:spPr>
          <a:xfrm>
            <a:off x="5553450" y="1350200"/>
            <a:ext cx="39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0" name="Google Shape;51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050" y="2033075"/>
            <a:ext cx="3554125" cy="14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9457" y="2033075"/>
            <a:ext cx="2090793" cy="14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8"/>
          <p:cNvSpPr txBox="1"/>
          <p:nvPr>
            <p:ph idx="1" type="body"/>
          </p:nvPr>
        </p:nvSpPr>
        <p:spPr>
          <a:xfrm>
            <a:off x="6906064" y="1909100"/>
            <a:ext cx="591600" cy="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8"/>
          <p:cNvSpPr txBox="1"/>
          <p:nvPr>
            <p:ph idx="1" type="body"/>
          </p:nvPr>
        </p:nvSpPr>
        <p:spPr>
          <a:xfrm>
            <a:off x="6671975" y="2395293"/>
            <a:ext cx="12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so 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8"/>
          <p:cNvSpPr txBox="1"/>
          <p:nvPr>
            <p:ph idx="1" type="body"/>
          </p:nvPr>
        </p:nvSpPr>
        <p:spPr>
          <a:xfrm>
            <a:off x="6483275" y="1838346"/>
            <a:ext cx="169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 of a word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8"/>
          <p:cNvSpPr/>
          <p:nvPr/>
        </p:nvSpPr>
        <p:spPr>
          <a:xfrm>
            <a:off x="582450" y="3885950"/>
            <a:ext cx="19200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Intermittent pain in body to irritate (5)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8"/>
          <p:cNvSpPr/>
          <p:nvPr/>
        </p:nvSpPr>
        <p:spPr>
          <a:xfrm>
            <a:off x="3131150" y="3573950"/>
            <a:ext cx="864600" cy="119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ibt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idt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annoy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8"/>
          <p:cNvSpPr/>
          <p:nvPr/>
        </p:nvSpPr>
        <p:spPr>
          <a:xfrm>
            <a:off x="4959050" y="3885950"/>
            <a:ext cx="12645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annoy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p58"/>
          <p:cNvCxnSpPr>
            <a:stCxn id="515" idx="3"/>
            <a:endCxn id="516" idx="1"/>
          </p:cNvCxnSpPr>
          <p:nvPr/>
        </p:nvCxnSpPr>
        <p:spPr>
          <a:xfrm>
            <a:off x="2502450" y="4172300"/>
            <a:ext cx="62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58"/>
          <p:cNvCxnSpPr>
            <a:stCxn id="516" idx="3"/>
            <a:endCxn id="517" idx="1"/>
          </p:cNvCxnSpPr>
          <p:nvPr/>
        </p:nvCxnSpPr>
        <p:spPr>
          <a:xfrm>
            <a:off x="3995750" y="4172300"/>
            <a:ext cx="96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0" name="Google Shape;520;p58"/>
          <p:cNvPicPr preferRelativeResize="0"/>
          <p:nvPr/>
        </p:nvPicPr>
        <p:blipFill rotWithShape="1">
          <a:blip r:embed="rId6">
            <a:alphaModFix/>
          </a:blip>
          <a:srcRect b="8859" l="4147" r="53967" t="3950"/>
          <a:stretch/>
        </p:blipFill>
        <p:spPr>
          <a:xfrm>
            <a:off x="6906075" y="2813152"/>
            <a:ext cx="1502700" cy="208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9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9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Hiddens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59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9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9"/>
          <p:cNvSpPr/>
          <p:nvPr/>
        </p:nvSpPr>
        <p:spPr>
          <a:xfrm>
            <a:off x="217575" y="963200"/>
            <a:ext cx="22977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“clean” the fodder using regex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9"/>
          <p:cNvSpPr/>
          <p:nvPr/>
        </p:nvSpPr>
        <p:spPr>
          <a:xfrm>
            <a:off x="2796175" y="963200"/>
            <a:ext cx="23451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2: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 Find all n-grams of the fodder length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9"/>
          <p:cNvSpPr/>
          <p:nvPr/>
        </p:nvSpPr>
        <p:spPr>
          <a:xfrm>
            <a:off x="5681325" y="963200"/>
            <a:ext cx="2297700" cy="690300"/>
          </a:xfrm>
          <a:prstGeom prst="roundRect">
            <a:avLst>
              <a:gd fmla="val 10894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lang="en">
                <a:latin typeface="Calibri"/>
                <a:ea typeface="Calibri"/>
                <a:cs typeface="Calibri"/>
                <a:sym typeface="Calibri"/>
              </a:rPr>
              <a:t>filter among the most most frequent 100k English word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p59"/>
          <p:cNvCxnSpPr>
            <a:stCxn id="529" idx="3"/>
            <a:endCxn id="530" idx="1"/>
          </p:cNvCxnSpPr>
          <p:nvPr/>
        </p:nvCxnSpPr>
        <p:spPr>
          <a:xfrm>
            <a:off x="2515275" y="1308350"/>
            <a:ext cx="28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59"/>
          <p:cNvCxnSpPr>
            <a:stCxn id="530" idx="3"/>
            <a:endCxn id="531" idx="1"/>
          </p:cNvCxnSpPr>
          <p:nvPr/>
        </p:nvCxnSpPr>
        <p:spPr>
          <a:xfrm>
            <a:off x="5141275" y="1308350"/>
            <a:ext cx="54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4" name="Google Shape;534;p59"/>
          <p:cNvSpPr/>
          <p:nvPr/>
        </p:nvSpPr>
        <p:spPr>
          <a:xfrm>
            <a:off x="302657" y="3721368"/>
            <a:ext cx="1389300" cy="69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"contract in government"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9"/>
          <p:cNvSpPr/>
          <p:nvPr/>
        </p:nvSpPr>
        <p:spPr>
          <a:xfrm>
            <a:off x="4294513" y="2066050"/>
            <a:ext cx="3053100" cy="2789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{'acting','artnoc','cartno','contra',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'ctingo','emnrev','ernmen','evogni','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Gnitca','govern','ingove','itcart','mnrevo','nemnre','ngover','nitcar',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'nrevog','ntact','ognitc', 'ontrac', 'overnm', 'ractin','revogn','rnment', 'tcartn','tingov','tnemnr','tracti',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'vernme','vognit'}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9"/>
          <p:cNvSpPr/>
          <p:nvPr/>
        </p:nvSpPr>
        <p:spPr>
          <a:xfrm>
            <a:off x="7979025" y="3256900"/>
            <a:ext cx="925800" cy="12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'acting', 'contra', 'govern'}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59"/>
          <p:cNvCxnSpPr>
            <a:stCxn id="534" idx="3"/>
            <a:endCxn id="538" idx="1"/>
          </p:cNvCxnSpPr>
          <p:nvPr/>
        </p:nvCxnSpPr>
        <p:spPr>
          <a:xfrm>
            <a:off x="1691957" y="4066518"/>
            <a:ext cx="225900" cy="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59"/>
          <p:cNvCxnSpPr/>
          <p:nvPr/>
        </p:nvCxnSpPr>
        <p:spPr>
          <a:xfrm>
            <a:off x="3934027" y="4066518"/>
            <a:ext cx="42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59"/>
          <p:cNvCxnSpPr>
            <a:stCxn id="535" idx="3"/>
            <a:endCxn id="536" idx="1"/>
          </p:cNvCxnSpPr>
          <p:nvPr/>
        </p:nvCxnSpPr>
        <p:spPr>
          <a:xfrm>
            <a:off x="7347613" y="3460750"/>
            <a:ext cx="631500" cy="4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9"/>
          <p:cNvSpPr/>
          <p:nvPr/>
        </p:nvSpPr>
        <p:spPr>
          <a:xfrm>
            <a:off x="1917713" y="3744025"/>
            <a:ext cx="2016300" cy="69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"contractingovernment"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9"/>
          <p:cNvSpPr txBox="1"/>
          <p:nvPr/>
        </p:nvSpPr>
        <p:spPr>
          <a:xfrm>
            <a:off x="449500" y="2066050"/>
            <a:ext cx="37716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333333"/>
                </a:solidFill>
                <a:highlight>
                  <a:srgbClr val="92C4FE"/>
                </a:highlight>
                <a:latin typeface="Calibri"/>
                <a:ea typeface="Calibri"/>
                <a:cs typeface="Calibri"/>
                <a:sym typeface="Calibri"/>
              </a:rPr>
              <a:t>“Temporary </a:t>
            </a:r>
            <a:r>
              <a:rPr b="1" lang="en" sz="1900" u="sng">
                <a:solidFill>
                  <a:srgbClr val="333333"/>
                </a:solidFill>
                <a:highlight>
                  <a:srgbClr val="FCDF46"/>
                </a:highlight>
                <a:latin typeface="Calibri"/>
                <a:ea typeface="Calibri"/>
                <a:cs typeface="Calibri"/>
                <a:sym typeface="Calibri"/>
              </a:rPr>
              <a:t>contract </a:t>
            </a:r>
            <a:r>
              <a:rPr b="1" lang="en" sz="1900" u="sng">
                <a:solidFill>
                  <a:srgbClr val="333333"/>
                </a:solidFill>
                <a:highlight>
                  <a:srgbClr val="F0B2FD"/>
                </a:highlight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" sz="1900" u="sng">
                <a:solidFill>
                  <a:srgbClr val="333333"/>
                </a:solidFill>
                <a:highlight>
                  <a:srgbClr val="FCDF46"/>
                </a:highlight>
                <a:latin typeface="Calibri"/>
                <a:ea typeface="Calibri"/>
                <a:cs typeface="Calibri"/>
                <a:sym typeface="Calibri"/>
              </a:rPr>
              <a:t>government</a:t>
            </a:r>
            <a:r>
              <a:rPr b="1" lang="en" sz="1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sector” (6)</a:t>
            </a:r>
            <a:endParaRPr/>
          </a:p>
        </p:txBody>
      </p:sp>
      <p:sp>
        <p:nvSpPr>
          <p:cNvPr id="542" name="Google Shape;542;p59"/>
          <p:cNvSpPr txBox="1"/>
          <p:nvPr/>
        </p:nvSpPr>
        <p:spPr>
          <a:xfrm>
            <a:off x="302650" y="2997013"/>
            <a:ext cx="4065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</a:t>
            </a:r>
            <a:r>
              <a:rPr lang="en" sz="1900" u="sng">
                <a:solidFill>
                  <a:srgbClr val="333333"/>
                </a:solidFill>
                <a:highlight>
                  <a:srgbClr val="FCDF46"/>
                </a:highlight>
                <a:latin typeface="Calibri"/>
                <a:ea typeface="Calibri"/>
                <a:cs typeface="Calibri"/>
                <a:sym typeface="Calibri"/>
              </a:rPr>
              <a:t>act in g</a:t>
            </a:r>
            <a:r>
              <a:rPr lang="en" sz="1900" u="sng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overnment</a:t>
            </a:r>
            <a:endParaRPr/>
          </a:p>
        </p:txBody>
      </p:sp>
      <p:pic>
        <p:nvPicPr>
          <p:cNvPr id="543" name="Google Shape;54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1062" y="1848737"/>
            <a:ext cx="1473373" cy="9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F46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0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0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Algorithmic Solving!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Google Shape;550;p60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60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0"/>
          <p:cNvPicPr preferRelativeResize="0"/>
          <p:nvPr/>
        </p:nvPicPr>
        <p:blipFill rotWithShape="1">
          <a:blip r:embed="rId4">
            <a:alphaModFix/>
          </a:blip>
          <a:srcRect b="0" l="0" r="0" t="30599"/>
          <a:stretch/>
        </p:blipFill>
        <p:spPr>
          <a:xfrm>
            <a:off x="1966913" y="1476375"/>
            <a:ext cx="5210175" cy="26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1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1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Potential Next Steps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61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1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1"/>
          <p:cNvSpPr txBox="1"/>
          <p:nvPr/>
        </p:nvSpPr>
        <p:spPr>
          <a:xfrm>
            <a:off x="675050" y="1370400"/>
            <a:ext cx="4917600" cy="29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 for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puzzle types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Definitional substitutions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Multi-word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answers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indicators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the program figure out what the indicator,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fodder, and definitions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on its own (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speech tagging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maybe)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machine learning (lambda smoothing)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a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training set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61" title="Screenshot 2025-12-02 at 3.37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325" y="1477125"/>
            <a:ext cx="2464326" cy="21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C4FE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/>
          <p:nvPr/>
        </p:nvSpPr>
        <p:spPr>
          <a:xfrm>
            <a:off x="-18050" y="-6025"/>
            <a:ext cx="9162000" cy="77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2"/>
          <p:cNvSpPr txBox="1"/>
          <p:nvPr>
            <p:ph type="title"/>
          </p:nvPr>
        </p:nvSpPr>
        <p:spPr>
          <a:xfrm>
            <a:off x="302650" y="946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The 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62"/>
          <p:cNvPicPr preferRelativeResize="0"/>
          <p:nvPr/>
        </p:nvPicPr>
        <p:blipFill rotWithShape="1">
          <a:blip r:embed="rId3">
            <a:alphaModFix/>
          </a:blip>
          <a:srcRect b="-10656" l="68417" r="28062" t="-5421"/>
          <a:stretch/>
        </p:blipFill>
        <p:spPr>
          <a:xfrm>
            <a:off x="7899398" y="174626"/>
            <a:ext cx="522261" cy="4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2"/>
          <p:cNvPicPr preferRelativeResize="0"/>
          <p:nvPr/>
        </p:nvPicPr>
        <p:blipFill rotWithShape="1">
          <a:blip r:embed="rId3">
            <a:alphaModFix/>
          </a:blip>
          <a:srcRect b="-31065" l="27109" r="67673" t="-20842"/>
          <a:stretch/>
        </p:blipFill>
        <p:spPr>
          <a:xfrm>
            <a:off x="403051" y="202863"/>
            <a:ext cx="591552" cy="46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2"/>
          <p:cNvSpPr txBox="1"/>
          <p:nvPr/>
        </p:nvSpPr>
        <p:spPr>
          <a:xfrm>
            <a:off x="2633250" y="1783375"/>
            <a:ext cx="3877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Thank You For Listening!</a:t>
            </a:r>
            <a:endParaRPr b="1" sz="4500">
              <a:solidFill>
                <a:schemeClr val="dk1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Questions?</a:t>
            </a:r>
            <a:endParaRPr sz="2400">
              <a:solidFill>
                <a:schemeClr val="dk1"/>
              </a:solidFill>
              <a:latin typeface="Berkshire Swash"/>
              <a:ea typeface="Berkshire Swash"/>
              <a:cs typeface="Berkshire Swash"/>
              <a:sym typeface="Berkshire Swas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